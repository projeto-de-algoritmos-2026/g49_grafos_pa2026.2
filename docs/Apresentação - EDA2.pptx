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aret" charset="1" panose="00000000000000000000"/>
      <p:regular r:id="rId24"/>
    </p:embeddedFont>
    <p:embeddedFont>
      <p:font typeface="Garet Bold" charset="1" panose="00000000000000000000"/>
      <p:regular r:id="rId25"/>
    </p:embeddedFont>
    <p:embeddedFont>
      <p:font typeface="Garet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65300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778174" y="898757"/>
            <a:ext cx="6372983" cy="8896297"/>
          </a:xfrm>
          <a:custGeom>
            <a:avLst/>
            <a:gdLst/>
            <a:ahLst/>
            <a:cxnLst/>
            <a:rect r="r" b="b" t="t" l="l"/>
            <a:pathLst>
              <a:path h="8896297" w="6372983">
                <a:moveTo>
                  <a:pt x="0" y="0"/>
                </a:moveTo>
                <a:lnTo>
                  <a:pt x="6372983" y="0"/>
                </a:lnTo>
                <a:lnTo>
                  <a:pt x="6372983" y="8896297"/>
                </a:lnTo>
                <a:lnTo>
                  <a:pt x="0" y="8896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10407285">
            <a:off x="-5710435" y="-188170"/>
            <a:ext cx="10371714" cy="1037171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40833" y="4782676"/>
            <a:ext cx="636934" cy="636934"/>
          </a:xfrm>
          <a:custGeom>
            <a:avLst/>
            <a:gdLst/>
            <a:ahLst/>
            <a:cxnLst/>
            <a:rect r="r" b="b" t="t" l="l"/>
            <a:pathLst>
              <a:path h="636934" w="636934">
                <a:moveTo>
                  <a:pt x="0" y="0"/>
                </a:moveTo>
                <a:lnTo>
                  <a:pt x="636934" y="0"/>
                </a:lnTo>
                <a:lnTo>
                  <a:pt x="636934" y="636934"/>
                </a:lnTo>
                <a:lnTo>
                  <a:pt x="0" y="6369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2125" y="3348098"/>
            <a:ext cx="7696200" cy="164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72"/>
              </a:lnSpc>
              <a:spcBef>
                <a:spcPct val="0"/>
              </a:spcBef>
            </a:pPr>
            <a:r>
              <a:rPr lang="en-US" sz="4765" spc="-2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SISTEMA DE RECOMENDAÇÃO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2125" y="4857750"/>
            <a:ext cx="7696200" cy="134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56"/>
              </a:lnSpc>
              <a:spcBef>
                <a:spcPct val="0"/>
              </a:spcBef>
            </a:pPr>
            <a:r>
              <a:rPr lang="en-US" b="true" sz="7897" spc="-363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DE SÉRIES DE TV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0385" y="770952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0" y="0"/>
                </a:lnTo>
                <a:lnTo>
                  <a:pt x="4017830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9233" y="1856673"/>
            <a:ext cx="4444454" cy="2230308"/>
          </a:xfrm>
          <a:custGeom>
            <a:avLst/>
            <a:gdLst/>
            <a:ahLst/>
            <a:cxnLst/>
            <a:rect r="r" b="b" t="t" l="l"/>
            <a:pathLst>
              <a:path h="2230308" w="4444454">
                <a:moveTo>
                  <a:pt x="0" y="0"/>
                </a:moveTo>
                <a:lnTo>
                  <a:pt x="4444454" y="0"/>
                </a:lnTo>
                <a:lnTo>
                  <a:pt x="4444454" y="2230308"/>
                </a:lnTo>
                <a:lnTo>
                  <a:pt x="0" y="22303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22133" y="1742373"/>
            <a:ext cx="5606651" cy="102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57"/>
              </a:lnSpc>
              <a:spcBef>
                <a:spcPct val="0"/>
              </a:spcBef>
            </a:pPr>
            <a:r>
              <a:rPr lang="en-US" sz="5969" spc="-2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DESCRIÇÃO 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3700" y="2536397"/>
            <a:ext cx="4629150" cy="100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8"/>
              </a:lnSpc>
              <a:spcBef>
                <a:spcPct val="0"/>
              </a:spcBef>
            </a:pPr>
            <a:r>
              <a:rPr lang="en-US" b="true" sz="5920" spc="-27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17479" y="4528170"/>
            <a:ext cx="11853042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Com a explosão de plataformas de streaming como Netflix, HBO Max e Disney+, os usuários enfrentam o problema da sobrecarga de escolha. São centenas de séries disponíveis e pouco tempo para decidir o que assistir. Um sistema de recomendação eficiente resolveria esse problema ao sugerir séries relevantes com base no histórico e preferências do usuário.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495207" y="1856673"/>
            <a:ext cx="4444454" cy="2230308"/>
          </a:xfrm>
          <a:custGeom>
            <a:avLst/>
            <a:gdLst/>
            <a:ahLst/>
            <a:cxnLst/>
            <a:rect r="r" b="b" t="t" l="l"/>
            <a:pathLst>
              <a:path h="2230308" w="4444454">
                <a:moveTo>
                  <a:pt x="4444454" y="0"/>
                </a:moveTo>
                <a:lnTo>
                  <a:pt x="0" y="0"/>
                </a:lnTo>
                <a:lnTo>
                  <a:pt x="0" y="2230308"/>
                </a:lnTo>
                <a:lnTo>
                  <a:pt x="4444454" y="2230308"/>
                </a:lnTo>
                <a:lnTo>
                  <a:pt x="44444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0385" y="770952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0" y="0"/>
                </a:lnTo>
                <a:lnTo>
                  <a:pt x="4017830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19233" y="1856673"/>
            <a:ext cx="4444454" cy="2230308"/>
          </a:xfrm>
          <a:custGeom>
            <a:avLst/>
            <a:gdLst/>
            <a:ahLst/>
            <a:cxnLst/>
            <a:rect r="r" b="b" t="t" l="l"/>
            <a:pathLst>
              <a:path h="2230308" w="4444454">
                <a:moveTo>
                  <a:pt x="0" y="0"/>
                </a:moveTo>
                <a:lnTo>
                  <a:pt x="4444454" y="0"/>
                </a:lnTo>
                <a:lnTo>
                  <a:pt x="4444454" y="2230308"/>
                </a:lnTo>
                <a:lnTo>
                  <a:pt x="0" y="22303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29865" y="4029831"/>
            <a:ext cx="962827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3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Para criarmos nosso proprio sistema de recomedação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usamos grafos bipartidos (usuários e séries) e grafos ponderados (similaridade entre séries). A abordagem baseada em grafos permite capturar relações complexas entre usuários e conteúdos, oferecendo recomendações mais precisas do que métodos tradicionais baseados apenas em popularidade.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495207" y="1856673"/>
            <a:ext cx="4444454" cy="2230308"/>
          </a:xfrm>
          <a:custGeom>
            <a:avLst/>
            <a:gdLst/>
            <a:ahLst/>
            <a:cxnLst/>
            <a:rect r="r" b="b" t="t" l="l"/>
            <a:pathLst>
              <a:path h="2230308" w="4444454">
                <a:moveTo>
                  <a:pt x="4444454" y="0"/>
                </a:moveTo>
                <a:lnTo>
                  <a:pt x="0" y="0"/>
                </a:lnTo>
                <a:lnTo>
                  <a:pt x="0" y="2230308"/>
                </a:lnTo>
                <a:lnTo>
                  <a:pt x="4444454" y="2230308"/>
                </a:lnTo>
                <a:lnTo>
                  <a:pt x="44444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22133" y="1742373"/>
            <a:ext cx="5443734" cy="102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57"/>
              </a:lnSpc>
              <a:spcBef>
                <a:spcPct val="0"/>
              </a:spcBef>
            </a:pPr>
            <a:r>
              <a:rPr lang="en-US" sz="5969" spc="-2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RESUMO 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43700" y="2536397"/>
            <a:ext cx="4629150" cy="100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8"/>
              </a:lnSpc>
              <a:spcBef>
                <a:spcPct val="0"/>
              </a:spcBef>
            </a:pPr>
            <a:r>
              <a:rPr lang="en-US" b="true" sz="5920" spc="-27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SOLUÇÃO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28453" y="2329272"/>
            <a:ext cx="5142979" cy="6562967"/>
          </a:xfrm>
          <a:custGeom>
            <a:avLst/>
            <a:gdLst/>
            <a:ahLst/>
            <a:cxnLst/>
            <a:rect r="r" b="b" t="t" l="l"/>
            <a:pathLst>
              <a:path h="6562967" w="5142979">
                <a:moveTo>
                  <a:pt x="0" y="0"/>
                </a:moveTo>
                <a:lnTo>
                  <a:pt x="5142980" y="0"/>
                </a:lnTo>
                <a:lnTo>
                  <a:pt x="5142980" y="6562967"/>
                </a:lnTo>
                <a:lnTo>
                  <a:pt x="0" y="6562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17016" y="4493707"/>
            <a:ext cx="2508833" cy="1313716"/>
          </a:xfrm>
          <a:custGeom>
            <a:avLst/>
            <a:gdLst/>
            <a:ahLst/>
            <a:cxnLst/>
            <a:rect r="r" b="b" t="t" l="l"/>
            <a:pathLst>
              <a:path h="1313716" w="2508833">
                <a:moveTo>
                  <a:pt x="0" y="0"/>
                </a:moveTo>
                <a:lnTo>
                  <a:pt x="2508833" y="0"/>
                </a:lnTo>
                <a:lnTo>
                  <a:pt x="2508833" y="1313717"/>
                </a:lnTo>
                <a:lnTo>
                  <a:pt x="0" y="13137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4025" y="1461527"/>
            <a:ext cx="5629275" cy="12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0"/>
              </a:lnSpc>
              <a:spcBef>
                <a:spcPct val="0"/>
              </a:spcBef>
            </a:pPr>
            <a:r>
              <a:rPr lang="en-US" sz="7550" spc="-34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CONCEITOS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4025" y="2528327"/>
            <a:ext cx="5629275" cy="98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58"/>
              </a:lnSpc>
              <a:spcBef>
                <a:spcPct val="0"/>
              </a:spcBef>
            </a:pPr>
            <a:r>
              <a:rPr lang="en-US" b="true" sz="5755" spc="-264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FUNDAMENTAIS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943806" y="2150873"/>
            <a:ext cx="2508833" cy="1313716"/>
          </a:xfrm>
          <a:custGeom>
            <a:avLst/>
            <a:gdLst/>
            <a:ahLst/>
            <a:cxnLst/>
            <a:rect r="r" b="b" t="t" l="l"/>
            <a:pathLst>
              <a:path h="1313716" w="2508833">
                <a:moveTo>
                  <a:pt x="0" y="0"/>
                </a:moveTo>
                <a:lnTo>
                  <a:pt x="2508833" y="0"/>
                </a:lnTo>
                <a:lnTo>
                  <a:pt x="2508833" y="1313716"/>
                </a:lnTo>
                <a:lnTo>
                  <a:pt x="0" y="13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98623" y="3733019"/>
            <a:ext cx="11509353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38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Grafo Bipartido: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um grafo cujos vértices podem ser divididos em dois conjuntos (usuários e séries), onde arestas conectam apenas vértices de conjuntos diferentes. Cada aresta representa que um usuário assistiu uma série.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138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Grafo Ponderado: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um grafo onde cada aresta possui um peso numérico representando a similaridade entre duas séries, calculada com base em gênero, elenco, avaliações em comum e outros atributos.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4279" y="2183525"/>
            <a:ext cx="3828476" cy="5816746"/>
          </a:xfrm>
          <a:custGeom>
            <a:avLst/>
            <a:gdLst/>
            <a:ahLst/>
            <a:cxnLst/>
            <a:rect r="r" b="b" t="t" l="l"/>
            <a:pathLst>
              <a:path h="5816746" w="3828476">
                <a:moveTo>
                  <a:pt x="0" y="0"/>
                </a:moveTo>
                <a:lnTo>
                  <a:pt x="3828476" y="0"/>
                </a:lnTo>
                <a:lnTo>
                  <a:pt x="3828476" y="5816746"/>
                </a:lnTo>
                <a:lnTo>
                  <a:pt x="0" y="5816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06011" y="3809737"/>
            <a:ext cx="3123931" cy="3506453"/>
          </a:xfrm>
          <a:custGeom>
            <a:avLst/>
            <a:gdLst/>
            <a:ahLst/>
            <a:cxnLst/>
            <a:rect r="r" b="b" t="t" l="l"/>
            <a:pathLst>
              <a:path h="3506453" w="3123931">
                <a:moveTo>
                  <a:pt x="0" y="0"/>
                </a:moveTo>
                <a:lnTo>
                  <a:pt x="3123931" y="0"/>
                </a:lnTo>
                <a:lnTo>
                  <a:pt x="3123931" y="3506454"/>
                </a:lnTo>
                <a:lnTo>
                  <a:pt x="0" y="35064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01044" y="1234076"/>
            <a:ext cx="7767764" cy="12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0"/>
              </a:lnSpc>
              <a:spcBef>
                <a:spcPct val="0"/>
              </a:spcBef>
            </a:pPr>
            <a:r>
              <a:rPr lang="en-US" sz="7550" spc="-34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GRAFO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01044" y="2148476"/>
            <a:ext cx="5660602" cy="12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0"/>
              </a:lnSpc>
              <a:spcBef>
                <a:spcPct val="0"/>
              </a:spcBef>
            </a:pPr>
            <a:r>
              <a:rPr lang="en-US" b="true" sz="7550" spc="-34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BIPARTIDO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70954" y="3475062"/>
            <a:ext cx="10788346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grafo bipartido modela a relação entre usuários e séries de TV. O conjunto U representa os usuários e o conjunto S representa as séries. Uma aresta (u, s) existe quando o usuário u assistiu a série s. Essa estrutura permite identificar padrões: usuários que assistiram séries em comum provavelmente têm gostos similares. A partir dessas conexões, podemos recomendar séries que usuários semelhantes assistiram mas o usuário alvo ainda não viu.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67321" y="1281701"/>
            <a:ext cx="11153358" cy="8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9"/>
              </a:lnSpc>
              <a:spcBef>
                <a:spcPct val="0"/>
              </a:spcBef>
            </a:pPr>
            <a:r>
              <a:rPr lang="en-US" b="true" sz="5164" spc="-23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GRAFO BIPARTIDO DE INTERAÇÕES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54343" y="2747151"/>
            <a:ext cx="12379314" cy="67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Segunda modelagem relacional: estrutura bipartida focada no comportamento da comunidade para filtragem colaborativa.</a:t>
            </a:r>
          </a:p>
          <a:p>
            <a:pPr algn="just">
              <a:lnSpc>
                <a:spcPts val="4199"/>
              </a:lnSpc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3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Es</a:t>
            </a:r>
            <a:r>
              <a:rPr lang="en-US" b="true" sz="2999" spc="-13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trutura Bipartida </a:t>
            </a:r>
          </a:p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on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ju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nto 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A: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Vé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 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suários </a:t>
            </a:r>
          </a:p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Conjunt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 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B: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ér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 Séries</a:t>
            </a:r>
          </a:p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st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 n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ão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-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po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nde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rada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: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sentam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a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ação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"A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ssistido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"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Alg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ori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mo 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 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com</a:t>
            </a:r>
            <a:r>
              <a:rPr lang="en-US" b="true" sz="2999" spc="-1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endação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lg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itmo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faz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alt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rede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Usuá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Ativo →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Séries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ssistidas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→ Outr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suário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→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ecomenda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-K 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ain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nã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iv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67321" y="1281701"/>
            <a:ext cx="11153358" cy="87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9"/>
              </a:lnSpc>
              <a:spcBef>
                <a:spcPct val="0"/>
              </a:spcBef>
            </a:pPr>
            <a:r>
              <a:rPr lang="en-US" b="true" sz="5163" spc="-23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MAX-HEAP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54343" y="2747151"/>
            <a:ext cx="12379314" cy="573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Para otimizar a recuperação e a recomendação das obras 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ma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is rel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va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es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c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atálog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s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bst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tuímos abor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da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gens 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ordenação estática por uma e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trutura 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 F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 P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ior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ida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baseada em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 Max-Heap, inves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executar algoritmos cu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sos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 or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enação completa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sobre todo o catálogo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a c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ada nova requisição.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Nesta implementaçã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o, o Score de Central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idade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Grau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— que quantifica a f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orça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número de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onexões de um título com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emais — é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injeta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 como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chave de orde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naçã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da Max-He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 Essa estrutura fornece uma recomendação robusta e imediata para usuários sem histórico.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54160" y="2298004"/>
            <a:ext cx="5537286" cy="6164995"/>
          </a:xfrm>
          <a:custGeom>
            <a:avLst/>
            <a:gdLst/>
            <a:ahLst/>
            <a:cxnLst/>
            <a:rect r="r" b="b" t="t" l="l"/>
            <a:pathLst>
              <a:path h="6164995" w="5537286">
                <a:moveTo>
                  <a:pt x="0" y="0"/>
                </a:moveTo>
                <a:lnTo>
                  <a:pt x="5537286" y="0"/>
                </a:lnTo>
                <a:lnTo>
                  <a:pt x="5537286" y="6164995"/>
                </a:lnTo>
                <a:lnTo>
                  <a:pt x="0" y="61649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7132" y="2319309"/>
            <a:ext cx="2514600" cy="1003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32"/>
              </a:lnSpc>
              <a:spcBef>
                <a:spcPct val="0"/>
              </a:spcBef>
            </a:pPr>
            <a:r>
              <a:rPr lang="en-US" sz="5880" spc="-27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GRAFO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71769" y="2328834"/>
            <a:ext cx="4629150" cy="98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34"/>
              </a:lnSpc>
              <a:spcBef>
                <a:spcPct val="0"/>
              </a:spcBef>
            </a:pPr>
            <a:r>
              <a:rPr lang="en-US" b="true" sz="5810" spc="-26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PONDERADO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7020" y="3646418"/>
            <a:ext cx="11218989" cy="361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93"/>
              </a:lnSpc>
              <a:spcBef>
                <a:spcPct val="0"/>
              </a:spcBef>
            </a:pPr>
            <a:r>
              <a:rPr lang="en-US" sz="2923" spc="-134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grafo ponderado conecta séries entre si, onde o peso de cada aresta representa o grau de similaridade. A similaridade é calculada com base entre as palavras-chave de cada série. Quanto maior o peso, mais semelhantes são as séries. Esse grafo permite recomendar séries similares às que o usuário já gostou, usando algoritmos de busca em vizinhança e caminhos mínimos ponderados.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60832" y="2081299"/>
            <a:ext cx="11766336" cy="87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9"/>
              </a:lnSpc>
              <a:spcBef>
                <a:spcPct val="0"/>
              </a:spcBef>
            </a:pPr>
            <a:r>
              <a:rPr lang="en-US" b="true" sz="5163" spc="-23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SIMILARIDADE TEXTUAL PONDERADA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80962" y="3859772"/>
            <a:ext cx="6389629" cy="771525"/>
            <a:chOff x="0" y="0"/>
            <a:chExt cx="3365731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80962" y="6804214"/>
            <a:ext cx="6389629" cy="771525"/>
            <a:chOff x="0" y="0"/>
            <a:chExt cx="3365731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17408" y="3859772"/>
            <a:ext cx="6389629" cy="771525"/>
            <a:chOff x="0" y="0"/>
            <a:chExt cx="3365731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17408" y="6804214"/>
            <a:ext cx="6389629" cy="771525"/>
            <a:chOff x="0" y="0"/>
            <a:chExt cx="3365731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33659" y="3997514"/>
            <a:ext cx="439727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Vértices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(V)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31473" y="6942644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Pon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er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79333" y="3997514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Arest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as 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(E)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79333" y="6942644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Centrali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dade de Grau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0962" y="5078972"/>
            <a:ext cx="6502668" cy="13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Os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1.000 filmes da base. Cada nó representa exclusivamente uma obra cinematográfica.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17408" y="5078972"/>
            <a:ext cx="6301782" cy="13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Criadas dinamic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amente entre dois filmes que compartilham ao menos uma palavra-chave em co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mum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nas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sinopses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97861" y="8023414"/>
            <a:ext cx="6385769" cy="13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Peso =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tamanho da intersecção entre os conjuntos de palavras-chave dos dois f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ilm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es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ectad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17408" y="7880539"/>
            <a:ext cx="6301782" cy="13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Soma d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os pesos incidentes em um nó determina o quão "central" ele é na malha temática do catálogo.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09555" y="2386548"/>
            <a:ext cx="3864151" cy="1492441"/>
          </a:xfrm>
          <a:custGeom>
            <a:avLst/>
            <a:gdLst/>
            <a:ahLst/>
            <a:cxnLst/>
            <a:rect r="r" b="b" t="t" l="l"/>
            <a:pathLst>
              <a:path h="1492441" w="3864151">
                <a:moveTo>
                  <a:pt x="0" y="0"/>
                </a:moveTo>
                <a:lnTo>
                  <a:pt x="3864151" y="0"/>
                </a:lnTo>
                <a:lnTo>
                  <a:pt x="3864151" y="1492441"/>
                </a:lnTo>
                <a:lnTo>
                  <a:pt x="0" y="14924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59195" y="4888587"/>
            <a:ext cx="3814511" cy="2753600"/>
          </a:xfrm>
          <a:custGeom>
            <a:avLst/>
            <a:gdLst/>
            <a:ahLst/>
            <a:cxnLst/>
            <a:rect r="r" b="b" t="t" l="l"/>
            <a:pathLst>
              <a:path h="2753600" w="3814511">
                <a:moveTo>
                  <a:pt x="0" y="0"/>
                </a:moveTo>
                <a:lnTo>
                  <a:pt x="3814511" y="0"/>
                </a:lnTo>
                <a:lnTo>
                  <a:pt x="3814511" y="2753600"/>
                </a:lnTo>
                <a:lnTo>
                  <a:pt x="0" y="2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3290" y="1679274"/>
            <a:ext cx="9033945" cy="103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54"/>
              </a:lnSpc>
              <a:spcBef>
                <a:spcPct val="0"/>
              </a:spcBef>
            </a:pPr>
            <a:r>
              <a:rPr lang="en-US" sz="6039" spc="-27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COLETA E TRATAMETNO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3290" y="2746074"/>
            <a:ext cx="5629275" cy="8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9"/>
              </a:lnSpc>
              <a:spcBef>
                <a:spcPct val="0"/>
              </a:spcBef>
            </a:pPr>
            <a:r>
              <a:rPr lang="en-US" b="true" sz="5164" spc="-23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DE DADOS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3290" y="4219612"/>
            <a:ext cx="10051930" cy="416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con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struir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bas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 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si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stem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eco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ndaçã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al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men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 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 g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fos, 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liz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mos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dado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x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tra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íd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os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data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TMDB,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ispon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ível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 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af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rma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Kaggle. 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abalham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os com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amo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tragem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entativa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1.000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séries e,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ara sim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lar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ssist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ema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da pl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ataf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rma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eal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izamos a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era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çã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rolada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50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usuário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v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rtuais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su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açõ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es com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as ob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ra e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sso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gr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fo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art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34400" y="2814134"/>
            <a:ext cx="4649054" cy="5057417"/>
          </a:xfrm>
          <a:custGeom>
            <a:avLst/>
            <a:gdLst/>
            <a:ahLst/>
            <a:cxnLst/>
            <a:rect r="r" b="b" t="t" l="l"/>
            <a:pathLst>
              <a:path h="5057417" w="4649054">
                <a:moveTo>
                  <a:pt x="0" y="0"/>
                </a:moveTo>
                <a:lnTo>
                  <a:pt x="4649055" y="0"/>
                </a:lnTo>
                <a:lnTo>
                  <a:pt x="4649055" y="5057417"/>
                </a:lnTo>
                <a:lnTo>
                  <a:pt x="0" y="50574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63290" y="1679274"/>
            <a:ext cx="9033945" cy="103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54"/>
              </a:lnSpc>
              <a:spcBef>
                <a:spcPct val="0"/>
              </a:spcBef>
            </a:pPr>
            <a:r>
              <a:rPr lang="en-US" sz="6039" spc="-27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PROCESSAMENTO DE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3290" y="2746074"/>
            <a:ext cx="7222018" cy="8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9"/>
              </a:lnSpc>
              <a:spcBef>
                <a:spcPct val="0"/>
              </a:spcBef>
            </a:pPr>
            <a:r>
              <a:rPr lang="en-US" b="true" sz="5164" spc="-23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LINGUAGEM NATURAL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5808" y="3874004"/>
            <a:ext cx="10051930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3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Vis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ando viabili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za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cálculo de sim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il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aridade entre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os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teú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dos — que com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põ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as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arestas do nos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grafo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ponderado —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ap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li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amos técnicas de Proces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sam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ento de Linguage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 Natura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 (PLN) na etapa de engenhar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 de re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cursos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Uti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iz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amos o algoritmo RAKE (Rapid Au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matic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Keyw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rd Ex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tra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ction), por m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io da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bibliote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ca NLTK,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ra analisar as sin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opses bru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ta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 (o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erviews)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cada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filme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 O pipeline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 processamento incluiu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a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limpeza de ruídos textuais e a rem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oção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 stopwor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ds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re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ando na extração automát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ica e pad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ronizada d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as 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palavras-chave mais descritivas para cada o</a:t>
            </a: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bra.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16648" y="3002016"/>
            <a:ext cx="3319377" cy="4829781"/>
          </a:xfrm>
          <a:custGeom>
            <a:avLst/>
            <a:gdLst/>
            <a:ahLst/>
            <a:cxnLst/>
            <a:rect r="r" b="b" t="t" l="l"/>
            <a:pathLst>
              <a:path h="4829781" w="3319377">
                <a:moveTo>
                  <a:pt x="0" y="0"/>
                </a:moveTo>
                <a:lnTo>
                  <a:pt x="3319376" y="0"/>
                </a:lnTo>
                <a:lnTo>
                  <a:pt x="3319376" y="4829780"/>
                </a:lnTo>
                <a:lnTo>
                  <a:pt x="0" y="4829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46800" y="2841324"/>
            <a:ext cx="2838544" cy="3186120"/>
          </a:xfrm>
          <a:custGeom>
            <a:avLst/>
            <a:gdLst/>
            <a:ahLst/>
            <a:cxnLst/>
            <a:rect r="r" b="b" t="t" l="l"/>
            <a:pathLst>
              <a:path h="3186120" w="2838544">
                <a:moveTo>
                  <a:pt x="0" y="0"/>
                </a:moveTo>
                <a:lnTo>
                  <a:pt x="2838543" y="0"/>
                </a:lnTo>
                <a:lnTo>
                  <a:pt x="2838543" y="3186120"/>
                </a:lnTo>
                <a:lnTo>
                  <a:pt x="0" y="31861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3290" y="1679274"/>
            <a:ext cx="5629275" cy="103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54"/>
              </a:lnSpc>
              <a:spcBef>
                <a:spcPct val="0"/>
              </a:spcBef>
            </a:pPr>
            <a:r>
              <a:rPr lang="en-US" sz="6039" spc="-27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ALGORITMO 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3290" y="2746074"/>
            <a:ext cx="5629275" cy="87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9"/>
              </a:lnSpc>
              <a:spcBef>
                <a:spcPct val="0"/>
              </a:spcBef>
            </a:pPr>
            <a:r>
              <a:rPr lang="en-US" b="true" sz="5164" spc="-23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RECOMENDAÇÃO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717" y="3898141"/>
            <a:ext cx="10051930" cy="573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algoritmo funciona em duas etapas principais. Primeiro, a filtragem colaborativa: dado um usuário alvo, encontramos os vizinhos mais próximos no grafo bipartido (usuários com mais séries em comum). Segundo, a recomendação por similaridade: entre as séries assistidas pelos vizinhos, priorizamos aquelas com maior peso no grafo ponderado em relação às séries já assistidas pelo usuário alvo. O resultado é uma lista ranqueada de séries recomendadas, combinando preferências de usuários similares com a similaridade de conteúdo.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59344" y="1591105"/>
            <a:ext cx="4629150" cy="74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3"/>
              </a:lnSpc>
              <a:spcBef>
                <a:spcPct val="0"/>
              </a:spcBef>
            </a:pPr>
            <a:r>
              <a:rPr lang="en-US" sz="4359" spc="-20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TECNOLOGIAS 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83044" y="2324530"/>
            <a:ext cx="6543675" cy="102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1"/>
              </a:lnSpc>
              <a:spcBef>
                <a:spcPct val="0"/>
              </a:spcBef>
            </a:pPr>
            <a:r>
              <a:rPr lang="en-US" b="true" sz="6001" spc="-276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IMPLEMENTAÇÃO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547943" y="3638952"/>
            <a:ext cx="6389629" cy="771525"/>
            <a:chOff x="0" y="0"/>
            <a:chExt cx="3365731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47943" y="4647862"/>
            <a:ext cx="6389629" cy="771525"/>
            <a:chOff x="0" y="0"/>
            <a:chExt cx="3365731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77237" y="3638952"/>
            <a:ext cx="6389629" cy="771525"/>
            <a:chOff x="0" y="0"/>
            <a:chExt cx="3365731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77237" y="4647862"/>
            <a:ext cx="6389629" cy="771525"/>
            <a:chOff x="0" y="0"/>
            <a:chExt cx="3365731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606431" y="5771812"/>
            <a:ext cx="13296900" cy="31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pc="-13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 implementação utiliza listas de adjacência para representar ambos os grafos, garantindo eficiência em memória e tempo de busca. O dataset de séries é obtido de APIs públicas como TMDB. A busca em largura (BFS) é usada para encontrar vizinhos no grafo bipartido, enquanto algoritmos de caminho mínimo ponderado (Dijkstra) auxiliam na recomendação por similaridade entre séries.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57221" y="3776695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Python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57221" y="4814920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Lista de Adjacência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5221" y="3776695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Dataset IMDB/TMDB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15221" y="4814920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Busca em Largura (BFS)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8354">
            <a:off x="10695521" y="-42357"/>
            <a:ext cx="10371714" cy="1037171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6220" y="1133686"/>
            <a:ext cx="8286320" cy="128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0"/>
              </a:lnSpc>
              <a:spcBef>
                <a:spcPct val="0"/>
              </a:spcBef>
            </a:pPr>
            <a:r>
              <a:rPr lang="en-US" b="true" sz="7550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IMPLEMENTAÇÃO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47115" y="3664926"/>
            <a:ext cx="948453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Cl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c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ust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omi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z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ad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com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dici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on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ários 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de 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adjacência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sets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n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ativ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Pyth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garantind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er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çã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e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bu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 arestas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em </a:t>
            </a:r>
            <a:r>
              <a:rPr lang="en-US" sz="2600" i="true" spc="-119" strike="noStrike" u="none">
                <a:solidFill>
                  <a:srgbClr val="EBF5FE"/>
                </a:solidFill>
                <a:latin typeface="Garet Italics"/>
                <a:ea typeface="Garet Italics"/>
                <a:cs typeface="Garet Italics"/>
                <a:sym typeface="Garet Italics"/>
              </a:rPr>
              <a:t>O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(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1)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47115" y="2972047"/>
            <a:ext cx="236073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119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me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_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grafo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47115" y="5968165"/>
            <a:ext cx="948453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gori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tmos m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nuais de 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Up-Hea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(SobeHe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p) e 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Dow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-He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(Des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-He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p)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para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ma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nção da proprieda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 ordem em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vetores sequenciais.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47115" y="5275286"/>
            <a:ext cx="236073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119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me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u_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he</a:t>
            </a: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ap.py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47115" y="8271269"/>
            <a:ext cx="948453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Abst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açã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das rotas H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TTP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qu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 o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rqu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stram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as estruturas puras 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depende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de </a:t>
            </a:r>
            <a:r>
              <a:rPr lang="en-US" sz="2600" i="true" spc="-119" strike="noStrike" u="none">
                <a:solidFill>
                  <a:srgbClr val="EBF5FE"/>
                </a:solidFill>
                <a:latin typeface="Garet Italics"/>
                <a:ea typeface="Garet Italics"/>
                <a:cs typeface="Garet Italics"/>
                <a:sym typeface="Garet Italics"/>
              </a:rPr>
              <a:t>NetworkX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o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si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lare</a:t>
            </a:r>
            <a:r>
              <a:rPr lang="en-US" sz="2600" spc="-119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47115" y="7578391"/>
            <a:ext cx="236073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 spc="-119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api.py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790700" y="335101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14823" y="1162261"/>
            <a:ext cx="6858354" cy="209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1"/>
              </a:lnSpc>
              <a:spcBef>
                <a:spcPct val="0"/>
              </a:spcBef>
            </a:pPr>
            <a:r>
              <a:rPr lang="en-US" b="true" sz="6001" spc="-276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6001" spc="-276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RQUITETURA DO SISTEMA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969867"/>
            <a:ext cx="6389629" cy="771525"/>
            <a:chOff x="0" y="0"/>
            <a:chExt cx="3365731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6914310"/>
            <a:ext cx="6389629" cy="771525"/>
            <a:chOff x="0" y="0"/>
            <a:chExt cx="3365731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5146" y="3969867"/>
            <a:ext cx="6389629" cy="771525"/>
            <a:chOff x="0" y="0"/>
            <a:chExt cx="3365731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65146" y="6914310"/>
            <a:ext cx="6389629" cy="771525"/>
            <a:chOff x="0" y="0"/>
            <a:chExt cx="3365731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537978" y="4107610"/>
            <a:ext cx="439727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Back-end — 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Python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+ Flask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7978" y="7052740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Fron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-end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—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V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ani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ll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JS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03130" y="4107610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Persistênci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O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imiz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03130" y="7052740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Endpoint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d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 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API</a:t>
            </a: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189067"/>
            <a:ext cx="6502668" cy="13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Se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rvidor REST mantendo Max-Heap e Grafos em </a:t>
            </a:r>
            <a:r>
              <a:rPr lang="en-US" b="true" sz="2577" spc="-118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memória RAM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global durante a execução.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5146" y="5189067"/>
            <a:ext cx="6886275" cy="13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Sal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vamento e exclusão de arestas em tempo real via manipulação de </a:t>
            </a:r>
            <a:r>
              <a:rPr lang="en-US" b="true" sz="2577" spc="-118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arquivos CSV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(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interacoes.csv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, usuarios.csv).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8277269"/>
            <a:ext cx="7035468" cy="136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Inte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rface reativa inspirada em plataformas de streaming, consumindo endpoints via </a:t>
            </a:r>
            <a:r>
              <a:rPr lang="en-US" b="true" sz="2577" spc="-118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fetch assíncrono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65146" y="8277269"/>
            <a:ext cx="6056925" cy="90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7"/>
              </a:lnSpc>
              <a:spcBef>
                <a:spcPct val="0"/>
              </a:spcBef>
            </a:pP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/ap</a:t>
            </a:r>
            <a:r>
              <a:rPr lang="en-US" sz="2577" spc="-118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i/populares, /api/recomendacoes, /api/toggle_assistido e /api/buscar.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8354">
            <a:off x="10695521" y="-42357"/>
            <a:ext cx="10371714" cy="1037171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97862" y="3760053"/>
            <a:ext cx="948453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 construção do grafo bipartido tem complexidade O(U + S + E), onde U é o número de usuários, S o número de séries e E as arestas (avaliações). A busca BFS para encontrar séries recomendadas opera em O(V + E). O cálculo de similaridade entre séries usando Dijkstra no grafo ponderado tem complexidade O((V + E) log V). O uso de listas de adjacência garante eficiência em memória O(V + E), adequada para datasets de grande escala.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70853" y="1133686"/>
            <a:ext cx="7877175" cy="12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0"/>
              </a:lnSpc>
              <a:spcBef>
                <a:spcPct val="0"/>
              </a:spcBef>
            </a:pPr>
            <a:r>
              <a:rPr lang="en-US" sz="7550" spc="-347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ANÁLISE 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0853" y="2057611"/>
            <a:ext cx="8010525" cy="129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0"/>
              </a:lnSpc>
              <a:spcBef>
                <a:spcPct val="0"/>
              </a:spcBef>
            </a:pPr>
            <a:r>
              <a:rPr lang="en-US" b="true" sz="7550" spc="-347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COMPLEXIDADE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58830" y="3991068"/>
            <a:ext cx="5535639" cy="3562939"/>
          </a:xfrm>
          <a:custGeom>
            <a:avLst/>
            <a:gdLst/>
            <a:ahLst/>
            <a:cxnLst/>
            <a:rect r="r" b="b" t="t" l="l"/>
            <a:pathLst>
              <a:path h="3562939" w="5535639">
                <a:moveTo>
                  <a:pt x="0" y="0"/>
                </a:moveTo>
                <a:lnTo>
                  <a:pt x="5535639" y="0"/>
                </a:lnTo>
                <a:lnTo>
                  <a:pt x="5535639" y="3562939"/>
                </a:lnTo>
                <a:lnTo>
                  <a:pt x="0" y="3562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7020" y="963351"/>
            <a:ext cx="352190" cy="352190"/>
          </a:xfrm>
          <a:custGeom>
            <a:avLst/>
            <a:gdLst/>
            <a:ahLst/>
            <a:cxnLst/>
            <a:rect r="r" b="b" t="t" l="l"/>
            <a:pathLst>
              <a:path h="352190" w="352190">
                <a:moveTo>
                  <a:pt x="0" y="0"/>
                </a:moveTo>
                <a:lnTo>
                  <a:pt x="352190" y="0"/>
                </a:lnTo>
                <a:lnTo>
                  <a:pt x="352190" y="352190"/>
                </a:lnTo>
                <a:lnTo>
                  <a:pt x="0" y="352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81825" y="1281701"/>
            <a:ext cx="4629150" cy="82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4"/>
              </a:lnSpc>
              <a:spcBef>
                <a:spcPct val="0"/>
              </a:spcBef>
            </a:pPr>
            <a:r>
              <a:rPr lang="en-US" sz="4824" spc="-221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CONCLUSÃO 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05525" y="2043701"/>
            <a:ext cx="6543675" cy="82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9"/>
              </a:lnSpc>
              <a:spcBef>
                <a:spcPct val="0"/>
              </a:spcBef>
            </a:pPr>
            <a:r>
              <a:rPr lang="en-US" b="true" sz="4828" spc="-222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TRABALHOS FUTUROS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6000" y="971550"/>
            <a:ext cx="1562100" cy="3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64"/>
              </a:lnSpc>
              <a:spcBef>
                <a:spcPct val="0"/>
              </a:spcBef>
            </a:pPr>
            <a:r>
              <a:rPr lang="en-US" sz="1760" spc="-80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PLN - EDA2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9023" y="3120635"/>
            <a:ext cx="9929400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38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 sistema demonstrou que grafos bipartidos e ponderados são ferramentas eficazes para modelar relações entre usuários e séries de TV. A abordagem baseada em grafos supera métodos simples de popularidade ao capturar padrões complexos de preferência. Como possíveis melhorias, seriam: incorporar aprendizado de máquina para ajustar pesos dinamicamente, adicionar filtragem temporal (séries recentes) e expandir o dataset com dados reais de plataformas de streaming.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87049" y="4412013"/>
            <a:ext cx="6389629" cy="771525"/>
            <a:chOff x="0" y="0"/>
            <a:chExt cx="3365731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87049" y="5420923"/>
            <a:ext cx="6389629" cy="771525"/>
            <a:chOff x="0" y="0"/>
            <a:chExt cx="3365731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7049" y="6429833"/>
            <a:ext cx="6389629" cy="771525"/>
            <a:chOff x="0" y="0"/>
            <a:chExt cx="3365731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54942" y="4412013"/>
            <a:ext cx="1797961" cy="771525"/>
            <a:chOff x="0" y="0"/>
            <a:chExt cx="947074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7074" cy="406400"/>
            </a:xfrm>
            <a:custGeom>
              <a:avLst/>
              <a:gdLst/>
              <a:ahLst/>
              <a:cxnLst/>
              <a:rect r="r" b="b" t="t" l="l"/>
              <a:pathLst>
                <a:path h="406400" w="947074">
                  <a:moveTo>
                    <a:pt x="743874" y="0"/>
                  </a:moveTo>
                  <a:cubicBezTo>
                    <a:pt x="856098" y="0"/>
                    <a:pt x="947074" y="90976"/>
                    <a:pt x="947074" y="203200"/>
                  </a:cubicBezTo>
                  <a:cubicBezTo>
                    <a:pt x="947074" y="315424"/>
                    <a:pt x="856098" y="406400"/>
                    <a:pt x="74387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47074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508855" y="4550445"/>
            <a:ext cx="890134" cy="44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054942" y="5420923"/>
            <a:ext cx="1797961" cy="771525"/>
            <a:chOff x="0" y="0"/>
            <a:chExt cx="947074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7074" cy="406400"/>
            </a:xfrm>
            <a:custGeom>
              <a:avLst/>
              <a:gdLst/>
              <a:ahLst/>
              <a:cxnLst/>
              <a:rect r="r" b="b" t="t" l="l"/>
              <a:pathLst>
                <a:path h="406400" w="947074">
                  <a:moveTo>
                    <a:pt x="743874" y="0"/>
                  </a:moveTo>
                  <a:cubicBezTo>
                    <a:pt x="856098" y="0"/>
                    <a:pt x="947074" y="90976"/>
                    <a:pt x="947074" y="203200"/>
                  </a:cubicBezTo>
                  <a:cubicBezTo>
                    <a:pt x="947074" y="315424"/>
                    <a:pt x="856098" y="406400"/>
                    <a:pt x="74387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47074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508855" y="5559356"/>
            <a:ext cx="890134" cy="44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054942" y="6429833"/>
            <a:ext cx="1797961" cy="771525"/>
            <a:chOff x="0" y="0"/>
            <a:chExt cx="947074" cy="406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7074" cy="406400"/>
            </a:xfrm>
            <a:custGeom>
              <a:avLst/>
              <a:gdLst/>
              <a:ahLst/>
              <a:cxnLst/>
              <a:rect r="r" b="b" t="t" l="l"/>
              <a:pathLst>
                <a:path h="406400" w="947074">
                  <a:moveTo>
                    <a:pt x="743874" y="0"/>
                  </a:moveTo>
                  <a:cubicBezTo>
                    <a:pt x="856098" y="0"/>
                    <a:pt x="947074" y="90976"/>
                    <a:pt x="947074" y="203200"/>
                  </a:cubicBezTo>
                  <a:cubicBezTo>
                    <a:pt x="947074" y="315424"/>
                    <a:pt x="856098" y="406400"/>
                    <a:pt x="74387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47074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508855" y="6568266"/>
            <a:ext cx="890134" cy="44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03.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21201" y="4551450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Pesos dinâmicos (ML)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21201" y="5561100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Filtragem temporal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10975" y="6563923"/>
            <a:ext cx="4162425" cy="4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9"/>
              </a:lnSpc>
              <a:spcBef>
                <a:spcPct val="0"/>
              </a:spcBef>
            </a:pPr>
            <a:r>
              <a:rPr lang="en-US" b="true" sz="2649" spc="-121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Dados reais de streaming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407285">
            <a:off x="3958143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0407285">
            <a:off x="5363810" y="1434956"/>
            <a:ext cx="7560380" cy="75603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76850" y="3715119"/>
            <a:ext cx="7696200" cy="175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71"/>
              </a:lnSpc>
              <a:spcBef>
                <a:spcPct val="0"/>
              </a:spcBef>
            </a:pPr>
            <a:r>
              <a:rPr lang="en-US" sz="10337" spc="-475" strike="noStrike" u="none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OBRIGADO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76850" y="5039094"/>
            <a:ext cx="7696200" cy="1342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65"/>
              </a:lnSpc>
              <a:spcBef>
                <a:spcPct val="0"/>
              </a:spcBef>
            </a:pPr>
            <a:r>
              <a:rPr lang="en-US" b="true" sz="7904" spc="-363" strike="noStrike" u="non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PELA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DAHKHVA1298</dc:identifier>
  <dcterms:modified xsi:type="dcterms:W3CDTF">2011-08-01T06:04:30Z</dcterms:modified>
  <cp:revision>1</cp:revision>
  <dc:title>Apresentação - EDA2</dc:title>
</cp:coreProperties>
</file>